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685800"/>
            <a:ext cx="3200400" cy="11071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8648" y="1874519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8081"/>
                </a:solidFill>
                <a:latin typeface="Arial"/>
              </a:rPr>
              <a:t>Datos y Analítica · Proceso de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2122699"/>
            <a:ext cx="10058400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3200" b="1" dirty="0">
                <a:solidFill>
                  <a:srgbClr val="002D6F"/>
                </a:solidFill>
                <a:latin typeface="Arial"/>
              </a:rPr>
              <a:t>Las acciones comerciales identificadas aportan +1.06 </a:t>
            </a:r>
            <a:r>
              <a:rPr lang="es-MX" sz="3200" b="1" dirty="0" err="1">
                <a:solidFill>
                  <a:srgbClr val="002D6F"/>
                </a:solidFill>
                <a:latin typeface="Arial"/>
              </a:rPr>
              <a:t>pp</a:t>
            </a:r>
            <a:r>
              <a:rPr lang="es-MX" sz="3200" b="1" dirty="0">
                <a:solidFill>
                  <a:srgbClr val="002D6F"/>
                </a:solidFill>
                <a:latin typeface="Arial"/>
              </a:rPr>
              <a:t> del objetivo de margen; el resto requiere eficiencia estructural </a:t>
            </a:r>
            <a:endParaRPr sz="3200" b="1" i="0" dirty="0">
              <a:solidFill>
                <a:srgbClr val="002D6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4248" y="36118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6B00"/>
                </a:solidFill>
                <a:latin typeface="Arial"/>
              </a:rPr>
              <a:t>Decisiones para aumentar el margen bruto de ADE Group en +2.0 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251960"/>
            <a:ext cx="1828800" cy="25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452628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Nombre: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4526280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MX" sz="1200" dirty="0">
                <a:solidFill>
                  <a:srgbClr val="4B4A4B"/>
                </a:solidFill>
                <a:latin typeface="Arial"/>
              </a:rPr>
              <a:t>Juanita Mabel Álvarez Villanueva</a:t>
            </a:r>
            <a:endParaRPr sz="1200" b="0" i="0" dirty="0">
              <a:solidFill>
                <a:srgbClr val="4B4A4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8960" y="4910328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Puesto al que aplicas: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91032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4A4B"/>
                </a:solidFill>
                <a:latin typeface="Arial"/>
              </a:rPr>
              <a:t>Líder de BI y Analítica Avanzada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5294376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Fecha: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5294376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MX" sz="1200" dirty="0">
                <a:solidFill>
                  <a:srgbClr val="4B4A4B"/>
                </a:solidFill>
                <a:latin typeface="Arial"/>
              </a:rPr>
              <a:t>03 Agosto 2023</a:t>
            </a:r>
            <a:endParaRPr sz="1200" b="0" i="0" dirty="0">
              <a:solidFill>
                <a:srgbClr val="4B4A4B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08960" y="5678424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2D6F"/>
                </a:solidFill>
                <a:latin typeface="Arial"/>
              </a:rPr>
              <a:t>Contacto: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678424"/>
            <a:ext cx="356616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MX" sz="1200" b="0" i="0" dirty="0">
                <a:solidFill>
                  <a:srgbClr val="4B4A4B"/>
                </a:solidFill>
                <a:latin typeface="Arial"/>
              </a:rPr>
              <a:t>8114748674</a:t>
            </a:r>
            <a:endParaRPr sz="1200" b="0" i="0" dirty="0">
              <a:solidFill>
                <a:srgbClr val="4B4A4B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41448" y="6355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Documento confidencial del proceso de selección · ADE Group (caso de examen)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763524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s-MX" sz="2200" b="1" i="0" dirty="0">
                <a:solidFill>
                  <a:srgbClr val="002D6F"/>
                </a:solidFill>
                <a:latin typeface="Arial"/>
              </a:rPr>
              <a:t>La recuperación de cuentas y el </a:t>
            </a:r>
            <a:r>
              <a:rPr lang="es-MX" sz="2200" b="1" i="0" dirty="0" err="1">
                <a:solidFill>
                  <a:srgbClr val="002D6F"/>
                </a:solidFill>
                <a:latin typeface="Arial"/>
              </a:rPr>
              <a:t>pricing</a:t>
            </a:r>
            <a:r>
              <a:rPr lang="es-MX" sz="2200" b="1" i="0" dirty="0">
                <a:solidFill>
                  <a:srgbClr val="002D6F"/>
                </a:solidFill>
                <a:latin typeface="Arial"/>
              </a:rPr>
              <a:t> selectivo concentran el 95% del impacto económico identificado.</a:t>
            </a:r>
            <a:endParaRPr sz="2200" b="1" i="0" dirty="0">
              <a:solidFill>
                <a:srgbClr val="002D6F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24128"/>
            <a:ext cx="54864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479792" cy="52322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r>
              <a:rPr lang="es-MX" sz="1400" b="1" dirty="0">
                <a:solidFill>
                  <a:srgbClr val="002D6F"/>
                </a:solidFill>
                <a:latin typeface="Arial"/>
              </a:rPr>
              <a:t>Las iniciativas comerciales identificadas capturan más de la mitad del objetivo de mejora de margen.</a:t>
            </a:r>
            <a:endParaRPr sz="1400" b="1" dirty="0">
              <a:solidFill>
                <a:srgbClr val="002D6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7635240" cy="101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r>
              <a:rPr lang="es-MX" sz="1200" dirty="0"/>
              <a:t>El 95% del impacto identificado proviene de dos decisiones: </a:t>
            </a:r>
          </a:p>
          <a:p>
            <a:pPr marL="228600" indent="-228600">
              <a:buAutoNum type="arabicPeriod"/>
            </a:pPr>
            <a:r>
              <a:rPr lang="es-MX" sz="1200" dirty="0"/>
              <a:t>Recuperar cuentas de margen bajo o negativo. </a:t>
            </a:r>
          </a:p>
          <a:p>
            <a:pPr marL="228600" indent="-228600">
              <a:buAutoNum type="arabicPeriod"/>
            </a:pPr>
            <a:r>
              <a:rPr lang="es-MX" sz="1200" dirty="0"/>
              <a:t>Aplicar </a:t>
            </a:r>
            <a:r>
              <a:rPr lang="es-MX" sz="1200" dirty="0" err="1"/>
              <a:t>pricing</a:t>
            </a:r>
            <a:r>
              <a:rPr lang="es-MX" sz="1200" dirty="0"/>
              <a:t> selectivo con control de descuentos. </a:t>
            </a:r>
          </a:p>
          <a:p>
            <a:pPr marL="228600" indent="-228600">
              <a:buAutoNum type="arabicPeriod"/>
            </a:pPr>
            <a:endParaRPr lang="es-MX" sz="1200" dirty="0"/>
          </a:p>
          <a:p>
            <a:r>
              <a:rPr lang="es-MX" sz="1200" dirty="0"/>
              <a:t>Las acciones comerciales cubren +1.06 </a:t>
            </a:r>
            <a:r>
              <a:rPr lang="es-MX" sz="1200" dirty="0" err="1"/>
              <a:t>pp</a:t>
            </a:r>
            <a:r>
              <a:rPr lang="es-MX" sz="1200" dirty="0"/>
              <a:t>; los +0.94 </a:t>
            </a:r>
            <a:r>
              <a:rPr lang="es-MX" sz="1200" dirty="0" err="1"/>
              <a:t>pp</a:t>
            </a:r>
            <a:r>
              <a:rPr lang="es-MX" sz="1200" dirty="0"/>
              <a:t> restantes requieren eficiencia estructural.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66760" y="320040"/>
            <a:ext cx="3319272" cy="2834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0" y="411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D6F"/>
                </a:solidFill>
                <a:latin typeface="Arial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749808"/>
            <a:ext cx="3063240" cy="17440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>
              <a:spcAft>
                <a:spcPts val="70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MX" sz="1050" dirty="0"/>
              <a:t>95% del impacto proviene de </a:t>
            </a:r>
            <a:r>
              <a:rPr lang="es-MX" sz="1050" dirty="0" err="1"/>
              <a:t>pricing</a:t>
            </a:r>
            <a:r>
              <a:rPr lang="es-MX" sz="1050" dirty="0"/>
              <a:t> y recuperación de cuentas.</a:t>
            </a:r>
          </a:p>
          <a:p>
            <a:pPr marL="171450" indent="-171450">
              <a:spcAft>
                <a:spcPts val="70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s-MX" sz="1050" dirty="0">
              <a:solidFill>
                <a:srgbClr val="4B4A4B"/>
              </a:solidFill>
              <a:latin typeface="Arial"/>
            </a:endParaRPr>
          </a:p>
          <a:p>
            <a:pPr marL="171450" indent="-171450">
              <a:spcAft>
                <a:spcPts val="70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MX" sz="1050" dirty="0"/>
              <a:t>Las dos principales palancas concentran €1,18 M, equivalentes al 95% del potencial.</a:t>
            </a:r>
          </a:p>
          <a:p>
            <a:pPr marL="171450" indent="-171450">
              <a:spcAft>
                <a:spcPts val="70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endParaRPr lang="es-MX" sz="1050" dirty="0">
              <a:solidFill>
                <a:srgbClr val="4B4A4B"/>
              </a:solidFill>
              <a:latin typeface="Arial"/>
            </a:endParaRPr>
          </a:p>
          <a:p>
            <a:pPr marL="171450" indent="-171450">
              <a:spcAft>
                <a:spcPts val="700"/>
              </a:spcAft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</a:pPr>
            <a:r>
              <a:rPr lang="es-MX" sz="1050" dirty="0">
                <a:solidFill>
                  <a:srgbClr val="4B4A4B"/>
                </a:solidFill>
                <a:latin typeface="Arial"/>
              </a:rPr>
              <a:t>El crecimiento de volumen por sí solo no alcanza el objetivo.</a:t>
            </a:r>
            <a:endParaRPr sz="1050" dirty="0">
              <a:solidFill>
                <a:srgbClr val="4B4A4B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66760" y="3291840"/>
            <a:ext cx="3319272" cy="28346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33832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KEY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21608"/>
            <a:ext cx="3063240" cy="12413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 b="1" dirty="0">
                <a:solidFill>
                  <a:srgbClr val="FF6B00"/>
                </a:solidFill>
                <a:latin typeface="Arial"/>
              </a:rPr>
              <a:t>▪ </a:t>
            </a:r>
            <a:r>
              <a:rPr lang="es-MX" sz="1050" dirty="0"/>
              <a:t>Implementar </a:t>
            </a:r>
            <a:r>
              <a:rPr lang="es-MX" sz="1050" dirty="0" err="1"/>
              <a:t>pricing</a:t>
            </a:r>
            <a:r>
              <a:rPr lang="es-MX" sz="1050" dirty="0"/>
              <a:t> selectivo [Comercial · 2026-08-31] </a:t>
            </a:r>
          </a:p>
          <a:p>
            <a:pPr>
              <a:spcAft>
                <a:spcPts val="700"/>
              </a:spcAft>
            </a:pPr>
            <a:r>
              <a:rPr lang="es-MX" sz="1050" b="1" dirty="0">
                <a:solidFill>
                  <a:srgbClr val="FF6B00"/>
                </a:solidFill>
                <a:latin typeface="Arial"/>
              </a:rPr>
              <a:t>▪</a:t>
            </a:r>
            <a:r>
              <a:rPr lang="es-MX" sz="1050" dirty="0"/>
              <a:t> Implementar un plan de recuperación de cuentas de bajo margen. [Ventas · 2026-09-15] </a:t>
            </a:r>
          </a:p>
          <a:p>
            <a:pPr>
              <a:spcAft>
                <a:spcPts val="700"/>
              </a:spcAft>
            </a:pPr>
            <a:r>
              <a:rPr lang="es-MX" sz="1050" b="1" dirty="0">
                <a:solidFill>
                  <a:srgbClr val="FF6B00"/>
                </a:solidFill>
                <a:latin typeface="Arial"/>
              </a:rPr>
              <a:t>▪</a:t>
            </a:r>
            <a:r>
              <a:rPr lang="es-MX" sz="1050" dirty="0"/>
              <a:t> Monitorear margen y resultados mensualmente [BI y Finanzas · 2026-09-30]</a:t>
            </a:r>
            <a:endParaRPr sz="1050" dirty="0">
              <a:solidFill>
                <a:srgbClr val="4B4A4B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2920" y="6355080"/>
            <a:ext cx="11183112" cy="19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1"/>
                </a:solidFill>
                <a:latin typeface="Arial"/>
              </a:rPr>
              <a:t>ADE Group — Examen técnico · Confidencial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6419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2</a:t>
            </a:r>
          </a:p>
        </p:txBody>
      </p:sp>
      <p:pic>
        <p:nvPicPr>
          <p:cNvPr id="15" name="Picture 14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19088"/>
            <a:ext cx="1143000" cy="3954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BE4B75C-2FF3-8609-5D73-9B8CE4096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288" y="3054096"/>
            <a:ext cx="5212358" cy="3048928"/>
          </a:xfrm>
          <a:prstGeom prst="rect">
            <a:avLst/>
          </a:prstGeom>
        </p:spPr>
      </p:pic>
      <p:sp>
        <p:nvSpPr>
          <p:cNvPr id="21" name="TextBox 4">
            <a:extLst>
              <a:ext uri="{FF2B5EF4-FFF2-40B4-BE49-F238E27FC236}">
                <a16:creationId xmlns:a16="http://schemas.microsoft.com/office/drawing/2014/main" id="{F060EF02-3C77-5599-0169-C83287EBAB4E}"/>
              </a:ext>
            </a:extLst>
          </p:cNvPr>
          <p:cNvSpPr txBox="1"/>
          <p:nvPr/>
        </p:nvSpPr>
        <p:spPr>
          <a:xfrm>
            <a:off x="252984" y="6054625"/>
            <a:ext cx="7635240" cy="2769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MX" sz="1200" b="1" dirty="0">
                <a:solidFill>
                  <a:schemeClr val="bg1">
                    <a:lumMod val="50000"/>
                  </a:schemeClr>
                </a:solidFill>
              </a:rPr>
              <a:t>Nota:</a:t>
            </a:r>
            <a:r>
              <a:rPr lang="es-MX" sz="1200" dirty="0">
                <a:solidFill>
                  <a:schemeClr val="bg1">
                    <a:lumMod val="50000"/>
                  </a:schemeClr>
                </a:solidFill>
              </a:rPr>
              <a:t> Escenario de planeación jul-2026–jun-2027. Para H1-2027 se mantiene el run-</a:t>
            </a:r>
            <a:r>
              <a:rPr lang="es-MX" sz="1200" dirty="0" err="1">
                <a:solidFill>
                  <a:schemeClr val="bg1">
                    <a:lumMod val="50000"/>
                  </a:schemeClr>
                </a:solidFill>
              </a:rPr>
              <a:t>rate</a:t>
            </a:r>
            <a:r>
              <a:rPr lang="es-MX" sz="1200" dirty="0">
                <a:solidFill>
                  <a:schemeClr val="bg1">
                    <a:lumMod val="50000"/>
                  </a:schemeClr>
                </a:solidFill>
              </a:rPr>
              <a:t> proyectado de H2-2026.</a:t>
            </a:r>
            <a:endParaRPr sz="1200" b="0" i="1" dirty="0">
              <a:solidFill>
                <a:schemeClr val="bg1">
                  <a:lumMod val="50000"/>
                </a:schemeClr>
              </a:solidFill>
              <a:latin typeface="Arial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F24D464-330B-B5C3-36B6-ACCBEF312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970" y="3054096"/>
            <a:ext cx="3487358" cy="29468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s-MX" sz="2200" b="1" dirty="0">
                <a:solidFill>
                  <a:srgbClr val="002D6F"/>
                </a:solidFill>
                <a:latin typeface="Arial"/>
              </a:rPr>
              <a:t>Aprobar el plan comercial y lanzar eficiencias para cerrar los +0,94 </a:t>
            </a:r>
            <a:r>
              <a:rPr lang="es-MX" sz="2200" b="1" dirty="0" err="1">
                <a:solidFill>
                  <a:srgbClr val="002D6F"/>
                </a:solidFill>
                <a:latin typeface="Arial"/>
              </a:rPr>
              <a:t>pp</a:t>
            </a:r>
            <a:r>
              <a:rPr lang="es-MX" sz="2200" b="1" dirty="0">
                <a:solidFill>
                  <a:srgbClr val="002D6F"/>
                </a:solidFill>
                <a:latin typeface="Arial"/>
              </a:rPr>
              <a:t> restantes</a:t>
            </a:r>
            <a:endParaRPr sz="2200" b="1" dirty="0">
              <a:solidFill>
                <a:srgbClr val="002D6F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097280"/>
            <a:ext cx="5081016" cy="360098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r>
              <a:rPr lang="es-MX" sz="1200" b="1" dirty="0"/>
              <a:t>0–3 meses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Implementar </a:t>
            </a:r>
            <a:r>
              <a:rPr lang="es-MX" sz="1200" dirty="0" err="1"/>
              <a:t>pricing</a:t>
            </a:r>
            <a:r>
              <a:rPr lang="es-MX" sz="1200" dirty="0"/>
              <a:t> selectivo.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Recuperar cuentas de bajo margen.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Reducir las causas de notas de crédito.</a:t>
            </a:r>
          </a:p>
          <a:p>
            <a:pPr lvl="0"/>
            <a:endParaRPr lang="es-MX" sz="1200" b="1" dirty="0"/>
          </a:p>
          <a:p>
            <a:pPr lvl="0"/>
            <a:r>
              <a:rPr lang="es-MX" sz="1200" b="1" dirty="0"/>
              <a:t>3–6 meses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Monitorear </a:t>
            </a:r>
            <a:r>
              <a:rPr lang="es-MX" sz="1200" dirty="0" err="1"/>
              <a:t>Customer</a:t>
            </a:r>
            <a:r>
              <a:rPr lang="es-MX" sz="1200" dirty="0"/>
              <a:t> Health mensualmente.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Optimizar el </a:t>
            </a:r>
            <a:r>
              <a:rPr lang="es-MX" sz="1200" dirty="0" err="1"/>
              <a:t>mix</a:t>
            </a:r>
            <a:r>
              <a:rPr lang="es-MX" sz="1200" dirty="0"/>
              <a:t> de productos.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Medir el impacto real sobre el margen.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s-MX" sz="1200" dirty="0"/>
          </a:p>
          <a:p>
            <a:r>
              <a:rPr lang="es-MX" sz="1200" b="1" dirty="0"/>
              <a:t>6–12 meses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Integrar compras y eficiencia operativa.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Actualizar el </a:t>
            </a:r>
            <a:r>
              <a:rPr lang="es-MX" sz="1200" dirty="0" err="1"/>
              <a:t>forecast</a:t>
            </a:r>
            <a:r>
              <a:rPr lang="es-MX" sz="1200" dirty="0"/>
              <a:t> mensualmente.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200" dirty="0"/>
              <a:t>Cerrar la brecha restante de +0,94 pp.</a:t>
            </a:r>
          </a:p>
          <a:p>
            <a:pPr lvl="0"/>
            <a:endParaRPr lang="es-MX" sz="1200" dirty="0"/>
          </a:p>
          <a:p>
            <a:pPr lvl="0"/>
            <a:endParaRPr lang="es-MX" sz="1200" dirty="0"/>
          </a:p>
          <a:p>
            <a:pPr lvl="0"/>
            <a:r>
              <a:rPr lang="es-MX" sz="1200" dirty="0"/>
              <a:t>La solución proporciona una plataforma analítica para monitorear </a:t>
            </a:r>
            <a:r>
              <a:rPr lang="es-MX" sz="1200" dirty="0" err="1"/>
              <a:t>forecast</a:t>
            </a:r>
            <a:r>
              <a:rPr lang="es-MX" sz="1200" dirty="0"/>
              <a:t>, </a:t>
            </a:r>
            <a:r>
              <a:rPr lang="es-MX" sz="1200" dirty="0" err="1"/>
              <a:t>Customer</a:t>
            </a:r>
            <a:r>
              <a:rPr lang="es-MX" sz="1200" dirty="0"/>
              <a:t> Health y rentabilidad, priorizando las acciones con mayor impacto sobre el margen bruto.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55080"/>
            <a:ext cx="11183112" cy="1905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1"/>
                </a:solidFill>
                <a:latin typeface="Arial"/>
              </a:rPr>
              <a:t>ADE Group — Examen técnico · Confidencial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19088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1"/>
                </a:solidFill>
                <a:latin typeface="Arial"/>
              </a:rPr>
              <a:t>3</a:t>
            </a:r>
          </a:p>
        </p:txBody>
      </p:sp>
      <p:pic>
        <p:nvPicPr>
          <p:cNvPr id="7" name="Picture 6" descr="logo_deacero_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419088"/>
            <a:ext cx="1143000" cy="39540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6FF5F60-3470-6AF2-65F3-2EA4B315A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497" y="1097280"/>
            <a:ext cx="6388847" cy="3600986"/>
          </a:xfrm>
          <a:prstGeom prst="rect">
            <a:avLst/>
          </a:prstGeom>
        </p:spPr>
      </p:pic>
      <p:sp>
        <p:nvSpPr>
          <p:cNvPr id="12" name="TextBox 2">
            <a:extLst>
              <a:ext uri="{FF2B5EF4-FFF2-40B4-BE49-F238E27FC236}">
                <a16:creationId xmlns:a16="http://schemas.microsoft.com/office/drawing/2014/main" id="{05414BE1-DF20-CDB3-BD04-06F02216D4D6}"/>
              </a:ext>
            </a:extLst>
          </p:cNvPr>
          <p:cNvSpPr txBox="1"/>
          <p:nvPr/>
        </p:nvSpPr>
        <p:spPr>
          <a:xfrm>
            <a:off x="533400" y="5465064"/>
            <a:ext cx="5081016" cy="46166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  <p:txBody>
          <a:bodyPr wrap="square">
            <a:spAutoFit/>
          </a:bodyPr>
          <a:lstStyle/>
          <a:p>
            <a:r>
              <a:rPr lang="es-MX" sz="1200" b="1" dirty="0"/>
              <a:t>Base de planeación 12 meses: €117,05 M. Potencial comercial identificado: €1,24 M.</a:t>
            </a:r>
            <a:endParaRPr lang="es-MX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393</Words>
  <Application>Microsoft Office PowerPoint</Application>
  <PresentationFormat>Panorámica</PresentationFormat>
  <Paragraphs>53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Mabel Alvarez</cp:lastModifiedBy>
  <cp:revision>6</cp:revision>
  <dcterms:created xsi:type="dcterms:W3CDTF">2013-01-27T09:14:16Z</dcterms:created>
  <dcterms:modified xsi:type="dcterms:W3CDTF">2026-08-03T20:36:35Z</dcterms:modified>
  <cp:category/>
</cp:coreProperties>
</file>