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_deacero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685800"/>
            <a:ext cx="3200400" cy="1107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8648" y="1874519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08081"/>
                </a:solidFill>
                <a:latin typeface="Arial"/>
              </a:rPr>
              <a:t>Datos y Analítica · Proceso de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2122699"/>
            <a:ext cx="10058400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s-MX" sz="3200" b="1" dirty="0">
                <a:solidFill>
                  <a:srgbClr val="002D6F"/>
                </a:solidFill>
                <a:latin typeface="Arial"/>
              </a:rPr>
              <a:t>Las acciones comerciales identificadas aportan +1.06 </a:t>
            </a:r>
            <a:r>
              <a:rPr lang="es-MX" sz="3200" b="1" dirty="0" err="1">
                <a:solidFill>
                  <a:srgbClr val="002D6F"/>
                </a:solidFill>
                <a:latin typeface="Arial"/>
              </a:rPr>
              <a:t>pp</a:t>
            </a:r>
            <a:r>
              <a:rPr lang="es-MX" sz="3200" b="1" dirty="0">
                <a:solidFill>
                  <a:srgbClr val="002D6F"/>
                </a:solidFill>
                <a:latin typeface="Arial"/>
              </a:rPr>
              <a:t> del objetivo de margen; el resto requiere eficiencia estructural </a:t>
            </a:r>
            <a:endParaRPr sz="3200" b="1" i="0" dirty="0">
              <a:solidFill>
                <a:srgbClr val="002D6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4248" y="36118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6B00"/>
                </a:solidFill>
                <a:latin typeface="Arial"/>
              </a:rPr>
              <a:t>Decisiones para aumentar el margen bruto de ADE Group en +2.0 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251960"/>
            <a:ext cx="1828800" cy="254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452628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2D6F"/>
                </a:solidFill>
                <a:latin typeface="Arial"/>
              </a:rPr>
              <a:t>Nombre: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4526280"/>
            <a:ext cx="3566160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s-MX" sz="1200" dirty="0">
                <a:solidFill>
                  <a:srgbClr val="4B4A4B"/>
                </a:solidFill>
                <a:latin typeface="Arial"/>
              </a:rPr>
              <a:t>Juanita Mabel Álvarez Villanueva</a:t>
            </a:r>
            <a:endParaRPr sz="1200" b="0" i="0" dirty="0">
              <a:solidFill>
                <a:srgbClr val="4B4A4B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108960" y="4910328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2D6F"/>
                </a:solidFill>
                <a:latin typeface="Arial"/>
              </a:rPr>
              <a:t>Puesto al que aplicas: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4910328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4A4B"/>
                </a:solidFill>
                <a:latin typeface="Arial"/>
              </a:rPr>
              <a:t>Líder de BI y Analítica Avanzada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5294376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2D6F"/>
                </a:solidFill>
                <a:latin typeface="Arial"/>
              </a:rPr>
              <a:t>Fecha: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5294376"/>
            <a:ext cx="3566160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s-MX" sz="1200" dirty="0">
                <a:solidFill>
                  <a:srgbClr val="4B4A4B"/>
                </a:solidFill>
                <a:latin typeface="Arial"/>
              </a:rPr>
              <a:t>03 Agosto 2023</a:t>
            </a:r>
            <a:endParaRPr sz="1200" b="0" i="0" dirty="0">
              <a:solidFill>
                <a:srgbClr val="4B4A4B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108960" y="5678424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2D6F"/>
                </a:solidFill>
                <a:latin typeface="Arial"/>
              </a:rPr>
              <a:t>Contacto: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5678424"/>
            <a:ext cx="3566160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s-MX" sz="1200" b="0" i="0" dirty="0">
                <a:solidFill>
                  <a:srgbClr val="4B4A4B"/>
                </a:solidFill>
                <a:latin typeface="Arial"/>
              </a:rPr>
              <a:t>8114748674</a:t>
            </a:r>
            <a:endParaRPr sz="1200" b="0" i="0" dirty="0">
              <a:solidFill>
                <a:srgbClr val="4B4A4B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41448" y="63550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1"/>
                </a:solidFill>
                <a:latin typeface="Arial"/>
              </a:rPr>
              <a:t>Documento confidencial del proceso de selección · ADE Group (caso de examen)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7635240" cy="76944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s-MX" sz="2200" b="1" i="0" dirty="0">
                <a:solidFill>
                  <a:srgbClr val="002D6F"/>
                </a:solidFill>
                <a:latin typeface="Arial"/>
              </a:rPr>
              <a:t>La recuperación de cuentas y el </a:t>
            </a:r>
            <a:r>
              <a:rPr lang="es-MX" sz="2200" b="1" i="0" dirty="0" err="1">
                <a:solidFill>
                  <a:srgbClr val="002D6F"/>
                </a:solidFill>
                <a:latin typeface="Arial"/>
              </a:rPr>
              <a:t>pricing</a:t>
            </a:r>
            <a:r>
              <a:rPr lang="es-MX" sz="2200" b="1" i="0" dirty="0">
                <a:solidFill>
                  <a:srgbClr val="002D6F"/>
                </a:solidFill>
                <a:latin typeface="Arial"/>
              </a:rPr>
              <a:t> selectivo concentran el 95% del impacto económico identificado.</a:t>
            </a:r>
            <a:endParaRPr sz="2200" b="1" i="0" dirty="0">
              <a:solidFill>
                <a:srgbClr val="002D6F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4864" cy="5029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479792" cy="523220"/>
          </a:xfrm>
          <a:prstGeom prst="rect">
            <a:avLst/>
          </a:prstGeom>
          <a:solidFill>
            <a:srgbClr val="F7F9FC"/>
          </a:solidFill>
          <a:ln w="12700">
            <a:solidFill>
              <a:srgbClr val="E8ECF1"/>
            </a:solidFill>
          </a:ln>
        </p:spPr>
        <p:txBody>
          <a:bodyPr wrap="square">
            <a:spAutoFit/>
          </a:bodyPr>
          <a:lstStyle/>
          <a:p>
            <a:r>
              <a:rPr lang="es-MX" sz="1400" b="1" dirty="0">
                <a:solidFill>
                  <a:srgbClr val="002D6F"/>
                </a:solidFill>
                <a:latin typeface="Arial"/>
              </a:rPr>
              <a:t>Las iniciativas comerciales identificadas capturan más de la mitad del objetivo de mejora de margen.</a:t>
            </a:r>
            <a:endParaRPr sz="1400" b="1" dirty="0">
              <a:solidFill>
                <a:srgbClr val="002D6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7635240" cy="101566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/>
              <a:t>El 95% del impacto identificado proviene de dos decisiones: </a:t>
            </a:r>
          </a:p>
          <a:p>
            <a:pPr marL="228600" indent="-228600">
              <a:buAutoNum type="arabicPeriod"/>
            </a:pPr>
            <a:r>
              <a:rPr lang="es-MX" sz="1200" dirty="0"/>
              <a:t>Recuperar cuentas de margen bajo o negativo. </a:t>
            </a:r>
          </a:p>
          <a:p>
            <a:pPr marL="228600" indent="-228600">
              <a:buAutoNum type="arabicPeriod"/>
            </a:pPr>
            <a:r>
              <a:rPr lang="es-MX" sz="1200" dirty="0"/>
              <a:t>Aplicar </a:t>
            </a:r>
            <a:r>
              <a:rPr lang="es-MX" sz="1200" dirty="0" err="1"/>
              <a:t>pricing</a:t>
            </a:r>
            <a:r>
              <a:rPr lang="es-MX" sz="1200" dirty="0"/>
              <a:t> selectivo con control de descuentos. </a:t>
            </a:r>
          </a:p>
          <a:p>
            <a:pPr marL="228600" indent="-228600">
              <a:buAutoNum type="arabicPeriod"/>
            </a:pPr>
            <a:endParaRPr lang="es-MX" sz="1200" dirty="0"/>
          </a:p>
          <a:p>
            <a:r>
              <a:rPr lang="es-MX" sz="1200" dirty="0"/>
              <a:t>Las acciones comerciales cubren +1.06 </a:t>
            </a:r>
            <a:r>
              <a:rPr lang="es-MX" sz="1200" dirty="0" err="1"/>
              <a:t>pp</a:t>
            </a:r>
            <a:r>
              <a:rPr lang="es-MX" sz="1200" dirty="0"/>
              <a:t> del objetivo; quedan +0.94 </a:t>
            </a:r>
            <a:r>
              <a:rPr lang="es-MX" sz="1200" dirty="0" err="1"/>
              <a:t>pp</a:t>
            </a:r>
            <a:r>
              <a:rPr lang="es-MX" sz="1200" dirty="0"/>
              <a:t> por cerrar mediante eficiencia estructural.</a:t>
            </a:r>
            <a:endParaRPr sz="1200" b="0" i="1" dirty="0">
              <a:solidFill>
                <a:srgbClr val="808081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66760" y="320040"/>
            <a:ext cx="3319272" cy="2834640"/>
          </a:xfrm>
          <a:prstGeom prst="rect">
            <a:avLst/>
          </a:prstGeom>
          <a:solidFill>
            <a:srgbClr val="F7F9FC"/>
          </a:solidFill>
          <a:ln w="12700">
            <a:solidFill>
              <a:srgbClr val="E8ECF1"/>
            </a:solidFill>
          </a:ln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0" y="4114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6F"/>
                </a:solidFill>
                <a:latin typeface="Arial"/>
              </a:rP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749808"/>
            <a:ext cx="3063240" cy="190565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MX" sz="1050" dirty="0">
                <a:solidFill>
                  <a:srgbClr val="4B4A4B"/>
                </a:solidFill>
                <a:latin typeface="Arial"/>
              </a:rPr>
              <a:t>95% del impacto proviene de </a:t>
            </a:r>
            <a:r>
              <a:rPr lang="es-MX" sz="1050" dirty="0" err="1">
                <a:solidFill>
                  <a:srgbClr val="4B4A4B"/>
                </a:solidFill>
                <a:latin typeface="Arial"/>
              </a:rPr>
              <a:t>pricing</a:t>
            </a:r>
            <a:r>
              <a:rPr lang="es-MX" sz="1050" dirty="0">
                <a:solidFill>
                  <a:srgbClr val="4B4A4B"/>
                </a:solidFill>
                <a:latin typeface="Arial"/>
              </a:rPr>
              <a:t> y recuperación de cuentas.</a:t>
            </a:r>
          </a:p>
          <a:p>
            <a:pPr marL="171450" indent="-171450">
              <a:spcAft>
                <a:spcPts val="700"/>
              </a:spcAft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§"/>
            </a:pPr>
            <a:endParaRPr lang="es-MX" sz="1050" dirty="0">
              <a:solidFill>
                <a:srgbClr val="4B4A4B"/>
              </a:solidFill>
              <a:latin typeface="Arial"/>
            </a:endParaRPr>
          </a:p>
          <a:p>
            <a:pPr marL="171450" indent="-171450">
              <a:spcAft>
                <a:spcPts val="700"/>
              </a:spcAft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MX" sz="1050" dirty="0"/>
              <a:t>La mayor oportunidad económica proviene de </a:t>
            </a:r>
            <a:r>
              <a:rPr lang="es-MX" sz="1050" dirty="0" err="1"/>
              <a:t>pricing</a:t>
            </a:r>
            <a:r>
              <a:rPr lang="es-MX" sz="1050" dirty="0"/>
              <a:t> selectivo y recuperación de cuentas </a:t>
            </a:r>
            <a:r>
              <a:rPr lang="es-MX" sz="1050" dirty="0">
                <a:solidFill>
                  <a:srgbClr val="4B4A4B"/>
                </a:solidFill>
                <a:latin typeface="Arial"/>
              </a:rPr>
              <a:t>(€617.7 mil).</a:t>
            </a:r>
          </a:p>
          <a:p>
            <a:pPr marL="171450" indent="-171450">
              <a:spcAft>
                <a:spcPts val="700"/>
              </a:spcAft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§"/>
            </a:pPr>
            <a:endParaRPr lang="es-MX" sz="1050" dirty="0">
              <a:solidFill>
                <a:srgbClr val="4B4A4B"/>
              </a:solidFill>
              <a:latin typeface="Arial"/>
            </a:endParaRPr>
          </a:p>
          <a:p>
            <a:pPr marL="171450" indent="-171450">
              <a:spcAft>
                <a:spcPts val="700"/>
              </a:spcAft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MX" sz="1050" dirty="0">
                <a:solidFill>
                  <a:srgbClr val="4B4A4B"/>
                </a:solidFill>
                <a:latin typeface="Arial"/>
              </a:rPr>
              <a:t>El crecimiento de volumen por sí solo no alcanza el objetivo.</a:t>
            </a:r>
            <a:endParaRPr sz="1050" dirty="0">
              <a:solidFill>
                <a:srgbClr val="4B4A4B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66760" y="3291840"/>
            <a:ext cx="3319272" cy="2834640"/>
          </a:xfrm>
          <a:prstGeom prst="rect">
            <a:avLst/>
          </a:prstGeom>
          <a:solidFill>
            <a:srgbClr val="F7F9FC"/>
          </a:solidFill>
          <a:ln w="12700">
            <a:solidFill>
              <a:srgbClr val="E8ECF1"/>
            </a:solidFill>
          </a:ln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0" y="33832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00"/>
                </a:solidFill>
                <a:latin typeface="Arial"/>
              </a:rPr>
              <a:t>KEY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721608"/>
            <a:ext cx="3063240" cy="12413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 b="1" dirty="0">
                <a:solidFill>
                  <a:srgbClr val="FF6B00"/>
                </a:solidFill>
                <a:latin typeface="Arial"/>
              </a:rPr>
              <a:t>▪ </a:t>
            </a:r>
            <a:r>
              <a:rPr lang="es-MX" sz="1050" dirty="0"/>
              <a:t>Implementar </a:t>
            </a:r>
            <a:r>
              <a:rPr lang="es-MX" sz="1050" dirty="0" err="1"/>
              <a:t>pricing</a:t>
            </a:r>
            <a:r>
              <a:rPr lang="es-MX" sz="1050" dirty="0"/>
              <a:t> selectivo [Comercial · 2026-08-31] </a:t>
            </a:r>
          </a:p>
          <a:p>
            <a:pPr>
              <a:spcAft>
                <a:spcPts val="700"/>
              </a:spcAft>
            </a:pPr>
            <a:r>
              <a:rPr lang="es-MX" sz="1050" b="1" dirty="0">
                <a:solidFill>
                  <a:srgbClr val="FF6B00"/>
                </a:solidFill>
                <a:latin typeface="Arial"/>
              </a:rPr>
              <a:t>▪</a:t>
            </a:r>
            <a:r>
              <a:rPr lang="es-MX" sz="1050" dirty="0"/>
              <a:t> Implementar un plan de recuperación de cuentas de bajo margen.[Ventas · 2026-09-15] </a:t>
            </a:r>
          </a:p>
          <a:p>
            <a:pPr>
              <a:spcAft>
                <a:spcPts val="700"/>
              </a:spcAft>
            </a:pPr>
            <a:r>
              <a:rPr lang="es-MX" sz="1050" b="1" dirty="0">
                <a:solidFill>
                  <a:srgbClr val="FF6B00"/>
                </a:solidFill>
                <a:latin typeface="Arial"/>
              </a:rPr>
              <a:t>▪</a:t>
            </a:r>
            <a:r>
              <a:rPr lang="es-MX" sz="1050" dirty="0"/>
              <a:t> Monitorear margen y resultados mensualmente [BI y Finanzas · 2026-09-30]</a:t>
            </a:r>
            <a:endParaRPr sz="1050" dirty="0">
              <a:solidFill>
                <a:srgbClr val="4B4A4B"/>
              </a:solidFill>
              <a:latin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02920" y="6355080"/>
            <a:ext cx="11183112" cy="1905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1"/>
                </a:solidFill>
                <a:latin typeface="Arial"/>
              </a:rPr>
              <a:t>ADE Group — Examen técnico · Confidencial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6419088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1"/>
                </a:solidFill>
                <a:latin typeface="Arial"/>
              </a:rPr>
              <a:t>2</a:t>
            </a:r>
          </a:p>
        </p:txBody>
      </p:sp>
      <p:pic>
        <p:nvPicPr>
          <p:cNvPr id="15" name="Picture 14" descr="logo_deacero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419088"/>
            <a:ext cx="1143000" cy="395406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99A5C6B-A078-5413-CA7C-DEBF66F0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025202"/>
            <a:ext cx="3797738" cy="3241232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791BF3F2-AEC8-BC88-CFF1-2C6F54B40E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3025202"/>
            <a:ext cx="3939552" cy="31012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76944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s-MX" sz="2200" b="1" dirty="0">
                <a:solidFill>
                  <a:srgbClr val="002D6F"/>
                </a:solidFill>
                <a:latin typeface="Arial"/>
              </a:rPr>
              <a:t>Aprobar el plan comercial para capturar +1.06 </a:t>
            </a:r>
            <a:r>
              <a:rPr lang="es-MX" sz="2200" b="1" dirty="0" err="1">
                <a:solidFill>
                  <a:srgbClr val="002D6F"/>
                </a:solidFill>
                <a:latin typeface="Arial"/>
              </a:rPr>
              <a:t>pp</a:t>
            </a:r>
            <a:r>
              <a:rPr lang="es-MX" sz="2200" b="1" dirty="0">
                <a:solidFill>
                  <a:srgbClr val="002D6F"/>
                </a:solidFill>
                <a:latin typeface="Arial"/>
              </a:rPr>
              <a:t> y lanzar iniciativas de eficiencia para cerrar los +0.94 </a:t>
            </a:r>
            <a:r>
              <a:rPr lang="es-MX" sz="2200" b="1" dirty="0" err="1">
                <a:solidFill>
                  <a:srgbClr val="002D6F"/>
                </a:solidFill>
                <a:latin typeface="Arial"/>
              </a:rPr>
              <a:t>pp</a:t>
            </a:r>
            <a:r>
              <a:rPr lang="es-MX" sz="2200" b="1" dirty="0">
                <a:solidFill>
                  <a:srgbClr val="002D6F"/>
                </a:solidFill>
                <a:latin typeface="Arial"/>
              </a:rPr>
              <a:t> restantes</a:t>
            </a:r>
            <a:endParaRPr sz="2200" b="1" dirty="0">
              <a:solidFill>
                <a:srgbClr val="002D6F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5111496" cy="323165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</a:ln>
        </p:spPr>
        <p:txBody>
          <a:bodyPr wrap="square">
            <a:spAutoFit/>
          </a:bodyPr>
          <a:lstStyle/>
          <a:p>
            <a:r>
              <a:rPr lang="es-MX" sz="1200" b="1" dirty="0"/>
              <a:t>0–3 meses</a:t>
            </a:r>
          </a:p>
          <a:p>
            <a:pPr lvl="0"/>
            <a:r>
              <a:rPr lang="es-MX" sz="1200" dirty="0" err="1"/>
              <a:t>Pricing</a:t>
            </a:r>
            <a:r>
              <a:rPr lang="es-MX" sz="1200" dirty="0"/>
              <a:t> selectivo </a:t>
            </a:r>
          </a:p>
          <a:p>
            <a:pPr lvl="0"/>
            <a:r>
              <a:rPr lang="es-MX" sz="1200" dirty="0"/>
              <a:t>Recuperación de cuentas de bajo margen </a:t>
            </a:r>
          </a:p>
          <a:p>
            <a:pPr lvl="0"/>
            <a:r>
              <a:rPr lang="es-MX" sz="1200" dirty="0"/>
              <a:t>Reducir notas de crédito </a:t>
            </a:r>
          </a:p>
          <a:p>
            <a:r>
              <a:rPr lang="es-MX" sz="1200" b="1" dirty="0"/>
              <a:t>3–6 meses</a:t>
            </a:r>
          </a:p>
          <a:p>
            <a:pPr lvl="0"/>
            <a:r>
              <a:rPr lang="es-MX" sz="1200" dirty="0" err="1"/>
              <a:t>Customer</a:t>
            </a:r>
            <a:r>
              <a:rPr lang="es-MX" sz="1200" dirty="0"/>
              <a:t> Health mensual </a:t>
            </a:r>
          </a:p>
          <a:p>
            <a:pPr lvl="0"/>
            <a:r>
              <a:rPr lang="es-MX" sz="1200" dirty="0"/>
              <a:t>Optimizar </a:t>
            </a:r>
            <a:r>
              <a:rPr lang="es-MX" sz="1200" dirty="0" err="1"/>
              <a:t>mix</a:t>
            </a:r>
            <a:r>
              <a:rPr lang="es-MX" sz="1200" dirty="0"/>
              <a:t> </a:t>
            </a:r>
          </a:p>
          <a:p>
            <a:pPr lvl="0"/>
            <a:r>
              <a:rPr lang="es-MX" sz="1200" dirty="0"/>
              <a:t>Medir impacto real </a:t>
            </a:r>
          </a:p>
          <a:p>
            <a:r>
              <a:rPr lang="es-MX" sz="1200" b="1" dirty="0"/>
              <a:t>6–12 meses</a:t>
            </a:r>
          </a:p>
          <a:p>
            <a:pPr lvl="0"/>
            <a:r>
              <a:rPr lang="es-MX" sz="1200" dirty="0"/>
              <a:t>Compras y eficiencia operativa </a:t>
            </a:r>
          </a:p>
          <a:p>
            <a:pPr lvl="0"/>
            <a:r>
              <a:rPr lang="es-MX" sz="1200" dirty="0" err="1"/>
              <a:t>Forecast</a:t>
            </a:r>
            <a:r>
              <a:rPr lang="es-MX" sz="1200" dirty="0"/>
              <a:t> mensual </a:t>
            </a:r>
          </a:p>
          <a:p>
            <a:pPr lvl="0"/>
            <a:r>
              <a:rPr lang="es-MX" sz="1200" dirty="0"/>
              <a:t>Cerrar el gap restante de +0.94 </a:t>
            </a:r>
            <a:r>
              <a:rPr lang="es-MX" sz="1200" dirty="0" err="1"/>
              <a:t>pp</a:t>
            </a:r>
            <a:endParaRPr lang="es-MX" sz="1200" dirty="0"/>
          </a:p>
          <a:p>
            <a:pPr lvl="0"/>
            <a:endParaRPr lang="es-MX" sz="1200" dirty="0"/>
          </a:p>
          <a:p>
            <a:pPr lvl="0"/>
            <a:endParaRPr lang="es-MX" sz="1200" dirty="0"/>
          </a:p>
          <a:p>
            <a:pPr lvl="0"/>
            <a:r>
              <a:rPr lang="es-MX" sz="1200" dirty="0"/>
              <a:t>La solución proporciona una plataforma analítica para monitorear </a:t>
            </a:r>
            <a:r>
              <a:rPr lang="es-MX" sz="1200" dirty="0" err="1"/>
              <a:t>forecast</a:t>
            </a:r>
            <a:r>
              <a:rPr lang="es-MX" sz="1200" dirty="0"/>
              <a:t>, </a:t>
            </a:r>
            <a:r>
              <a:rPr lang="es-MX" sz="1200" dirty="0" err="1"/>
              <a:t>Customer</a:t>
            </a:r>
            <a:r>
              <a:rPr lang="es-MX" sz="1200" dirty="0"/>
              <a:t> Health y rentabilidad, priorizando las acciones con mayor impacto sobre el margen bruto.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355080"/>
            <a:ext cx="11183112" cy="1905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08081"/>
                </a:solidFill>
                <a:latin typeface="Arial"/>
              </a:rPr>
              <a:t>ADE Group — Examen técnico · Confidencial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6419088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08081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logo_deacero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419088"/>
            <a:ext cx="1143000" cy="39540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1B24E08-DF64-2625-8CE8-8E743C910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907105"/>
            <a:ext cx="5864352" cy="3590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343</Words>
  <Application>Microsoft Office PowerPoint</Application>
  <PresentationFormat>Panorámica</PresentationFormat>
  <Paragraphs>49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Wingdings</vt:lpstr>
      <vt:lpstr>Office Theme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Mabel Alvarez</cp:lastModifiedBy>
  <cp:revision>4</cp:revision>
  <dcterms:created xsi:type="dcterms:W3CDTF">2013-01-27T09:14:16Z</dcterms:created>
  <dcterms:modified xsi:type="dcterms:W3CDTF">2026-08-03T17:15:34Z</dcterms:modified>
  <cp:category/>
</cp:coreProperties>
</file>