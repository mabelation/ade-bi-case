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deacero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685800"/>
            <a:ext cx="3200400" cy="11071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8648" y="1874519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08081"/>
                </a:solidFill>
                <a:latin typeface="Arial"/>
              </a:rPr>
              <a:t>Datos y Analítica · Proceso de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260604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2D6F"/>
                </a:solidFill>
                <a:latin typeface="Arial"/>
              </a:rPr>
              <a:t>«Escribe aquí tu mensaje principal como título de la presentación»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4248" y="36118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6B00"/>
                </a:solidFill>
                <a:latin typeface="Arial"/>
              </a:rPr>
              <a:t>Decisiones para aumentar el margen bruto de ADE Group en +2.0 pp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251960"/>
            <a:ext cx="1828800" cy="25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5262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2D6F"/>
                </a:solidFill>
                <a:latin typeface="Arial"/>
              </a:rPr>
              <a:t>Nombre: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45262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4A4B"/>
                </a:solidFill>
                <a:latin typeface="Arial"/>
              </a:rPr>
              <a:t>«Tu nombre completo»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491032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2D6F"/>
                </a:solidFill>
                <a:latin typeface="Arial"/>
              </a:rPr>
              <a:t>Puesto al que aplicas: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491032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4A4B"/>
                </a:solidFill>
                <a:latin typeface="Arial"/>
              </a:rPr>
              <a:t>Líder de BI y Analítica Avanzada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529437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2D6F"/>
                </a:solidFill>
                <a:latin typeface="Arial"/>
              </a:rPr>
              <a:t>Fecha: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5294376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4A4B"/>
                </a:solidFill>
                <a:latin typeface="Arial"/>
              </a:rPr>
              <a:t>«DD de mes de AAAA»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5678424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2D6F"/>
                </a:solidFill>
                <a:latin typeface="Arial"/>
              </a:rPr>
              <a:t>Contacto: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5678424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4A4B"/>
                </a:solidFill>
                <a:latin typeface="Arial"/>
              </a:rPr>
              <a:t>«correo o teléfono»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6355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8081"/>
                </a:solidFill>
                <a:latin typeface="Arial"/>
              </a:rPr>
              <a:t>Documento confidencial del proceso de selección · ADE Group (caso de examen)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63524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D6F"/>
                </a:solidFill>
                <a:latin typeface="Arial"/>
              </a:rPr>
              <a:t>«Título declarativo: la decisión, no el tema»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4864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7479792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D6F"/>
                </a:solidFill>
                <a:latin typeface="Arial"/>
              </a:rPr>
              <a:t>«Mensaje a destacar: la decisión concreta y cuántos pp de margen aporta»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76352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08081"/>
                </a:solidFill>
                <a:latin typeface="Arial"/>
              </a:rPr>
              <a:t>«Cuerpo: explica, defiende y justifica tu mensaje a destacar. Usa la evidencia que construiste: puente de pp por palanca, supuestos, efecto proyectado sobre tu forecast, gráficas. Sustituye este cuadro por tu contenido.»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20040"/>
            <a:ext cx="3319272" cy="283464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" b="0" i="0">
                <a:solidFill>
                  <a:srgbClr val="4B4A4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4114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D6F"/>
                </a:solidFill>
                <a:latin typeface="Arial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749808"/>
            <a:ext cx="3063240" cy="228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 b="1">
                <a:solidFill>
                  <a:srgbClr val="002D6F"/>
                </a:solidFill>
                <a:latin typeface="Arial"/>
              </a:rPr>
              <a:t>▪ </a:t>
            </a:r>
            <a:r>
              <a:rPr sz="1050">
                <a:solidFill>
                  <a:srgbClr val="4B4A4B"/>
                </a:solidFill>
                <a:latin typeface="Arial"/>
              </a:rPr>
              <a:t>«Takeaway 1: hallazgo que pasa el test ¿y qué?»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002D6F"/>
                </a:solidFill>
                <a:latin typeface="Arial"/>
              </a:rPr>
              <a:t>▪ </a:t>
            </a:r>
            <a:r>
              <a:rPr sz="1050">
                <a:solidFill>
                  <a:srgbClr val="4B4A4B"/>
                </a:solidFill>
                <a:latin typeface="Arial"/>
              </a:rPr>
              <a:t>«Takeaway 2: inicia con verbo o número cuantificable»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002D6F"/>
                </a:solidFill>
                <a:latin typeface="Arial"/>
              </a:rPr>
              <a:t>▪ </a:t>
            </a:r>
            <a:r>
              <a:rPr sz="1050">
                <a:solidFill>
                  <a:srgbClr val="4B4A4B"/>
                </a:solidFill>
                <a:latin typeface="Arial"/>
              </a:rPr>
              <a:t>«Takeaway 3: máximo 15 palabras»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291840"/>
            <a:ext cx="3319272" cy="283464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" b="0" i="0">
                <a:solidFill>
                  <a:srgbClr val="4B4A4B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3832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Arial"/>
              </a:rPr>
              <a:t>KEY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721608"/>
            <a:ext cx="3063240" cy="228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 b="1">
                <a:solidFill>
                  <a:srgbClr val="FF6B00"/>
                </a:solidFill>
                <a:latin typeface="Arial"/>
              </a:rPr>
              <a:t>▪ </a:t>
            </a:r>
            <a:r>
              <a:rPr sz="1050">
                <a:solidFill>
                  <a:srgbClr val="4B4A4B"/>
                </a:solidFill>
                <a:latin typeface="Arial"/>
              </a:rPr>
              <a:t>«Acción 1 en infinitivo» [Responsable · AAAA-MM-DD]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FF6B00"/>
                </a:solidFill>
                <a:latin typeface="Arial"/>
              </a:rPr>
              <a:t>▪ </a:t>
            </a:r>
            <a:r>
              <a:rPr sz="1050">
                <a:solidFill>
                  <a:srgbClr val="4B4A4B"/>
                </a:solidFill>
                <a:latin typeface="Arial"/>
              </a:rPr>
              <a:t>«Acción 2 en infinitivo» [Responsable · AAAA-MM-DD]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FF6B00"/>
                </a:solidFill>
                <a:latin typeface="Arial"/>
              </a:rPr>
              <a:t>▪ </a:t>
            </a:r>
            <a:r>
              <a:rPr sz="1050">
                <a:solidFill>
                  <a:srgbClr val="4B4A4B"/>
                </a:solidFill>
                <a:latin typeface="Arial"/>
              </a:rPr>
              <a:t>«Acción 3 en infinitivo» [TBD]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55080"/>
            <a:ext cx="11183112" cy="1905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1"/>
                </a:solidFill>
                <a:latin typeface="Arial"/>
              </a:rPr>
              <a:t>ADE Group — Examen técnico · Confidencial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6419088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8081"/>
                </a:solidFill>
                <a:latin typeface="Arial"/>
              </a:rPr>
              <a:t>2</a:t>
            </a:r>
          </a:p>
        </p:txBody>
      </p:sp>
      <p:pic>
        <p:nvPicPr>
          <p:cNvPr id="15" name="Picture 14" descr="logo_deacero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419088"/>
            <a:ext cx="1143000" cy="3954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D6F"/>
                </a:solidFill>
                <a:latin typeface="Arial"/>
              </a:rPr>
              <a:t>«Conclusiones: la decisión que le pides al comité»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08081"/>
                </a:solidFill>
                <a:latin typeface="Arial"/>
              </a:rPr>
              <a:t>«Lienzo libre: ilustra y articula tus conclusiones como lo consideres mejor. Solo respeta el encabezado y el pie de página. Sustituye este cuadro por tu contenido.»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55080"/>
            <a:ext cx="11183112" cy="1905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1"/>
                </a:solidFill>
                <a:latin typeface="Arial"/>
              </a:rPr>
              <a:t>ADE Group — Examen técnico · Confidencial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19088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8081"/>
                </a:solidFill>
                <a:latin typeface="Arial"/>
              </a:rPr>
              <a:t>3</a:t>
            </a:r>
          </a:p>
        </p:txBody>
      </p:sp>
      <p:pic>
        <p:nvPicPr>
          <p:cNvPr id="7" name="Picture 6" descr="logo_deacero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419088"/>
            <a:ext cx="1143000" cy="3954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